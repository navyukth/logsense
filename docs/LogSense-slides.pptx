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107559a1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107559a1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107559a1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107559a1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07559a1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107559a1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07559a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107559a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10ae2282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10ae2282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107559a1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107559a1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107559a1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107559a1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107559a1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107559a1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107559a1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107559a1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107559a1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107559a1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10ae2282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10ae2282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0ae2282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10ae2282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0ae2282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10ae2282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i.meta.com/blog/llama-3-2/" TargetMode="External"/><Relationship Id="rId4" Type="http://schemas.openxmlformats.org/officeDocument/2006/relationships/hyperlink" Target="https://ai.meta.com/blog/llama-3-2/" TargetMode="External"/><Relationship Id="rId5" Type="http://schemas.openxmlformats.org/officeDocument/2006/relationships/hyperlink" Target="https://github.com/unslothai/unsloth" TargetMode="External"/><Relationship Id="rId6" Type="http://schemas.openxmlformats.org/officeDocument/2006/relationships/hyperlink" Target="https://github.com/unslothai/unsloth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942225"/>
            <a:ext cx="8520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8575" rtl="0" algn="ctr">
              <a:spcBef>
                <a:spcPts val="5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NEIL GOGTE INSTITUTE OF TECHNOLOGY</a:t>
            </a:r>
            <a:endParaRPr sz="2500"/>
          </a:p>
        </p:txBody>
      </p:sp>
      <p:sp>
        <p:nvSpPr>
          <p:cNvPr id="55" name="Google Shape;55;p13"/>
          <p:cNvSpPr txBox="1"/>
          <p:nvPr/>
        </p:nvSpPr>
        <p:spPr>
          <a:xfrm>
            <a:off x="1985550" y="1496325"/>
            <a:ext cx="517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987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LogSense: An Automated System for log analysis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41800" y="2081325"/>
            <a:ext cx="284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Avyukth Nunna	245323748009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Pammi Rishita</a:t>
            </a:r>
            <a:r>
              <a:rPr lang="en-GB"/>
              <a:t>	245323748049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 Ritesh Kovid</a:t>
            </a:r>
            <a:r>
              <a:rPr lang="en-GB"/>
              <a:t>	245323748002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0" y="2989375"/>
            <a:ext cx="91440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 the Guidance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O</a:t>
            </a:r>
            <a:r>
              <a:rPr lang="en-GB"/>
              <a:t>f</a:t>
            </a:r>
            <a:endParaRPr/>
          </a:p>
          <a:p>
            <a:pPr indent="227330" lvl="0" marL="343027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Dr K Vinuthna Reddy</a:t>
            </a:r>
            <a:endParaRPr/>
          </a:p>
          <a:p>
            <a:pPr indent="70485" lvl="0" marL="2215515" marR="2230755" rtl="0" algn="ctr"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Associate Professor</a:t>
            </a:r>
            <a:endParaRPr sz="1100"/>
          </a:p>
        </p:txBody>
      </p:sp>
      <p:sp>
        <p:nvSpPr>
          <p:cNvPr id="58" name="Google Shape;58;p13"/>
          <p:cNvSpPr txBox="1"/>
          <p:nvPr/>
        </p:nvSpPr>
        <p:spPr>
          <a:xfrm>
            <a:off x="241800" y="4444900"/>
            <a:ext cx="8660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525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CSE (ARTIFICIAL INTELLIGENCE &amp; MACHINE LEARNING)</a:t>
            </a:r>
            <a:endParaRPr sz="1700"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00" y="425775"/>
            <a:ext cx="1495425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24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90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902713"/>
            <a:ext cx="6764400" cy="12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7032"/>
              <a:buFont typeface="Arial"/>
              <a:buNone/>
            </a:pPr>
            <a:r>
              <a:rPr b="1" lang="en-GB" sz="4069">
                <a:solidFill>
                  <a:schemeClr val="dk1"/>
                </a:solidFill>
              </a:rPr>
              <a:t>Brief Overview of the Topic</a:t>
            </a:r>
            <a:endParaRPr b="1" sz="4069">
              <a:solidFill>
                <a:schemeClr val="dk1"/>
              </a:solidFill>
            </a:endParaRPr>
          </a:p>
          <a:p>
            <a:pPr indent="-29154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3050">
                <a:solidFill>
                  <a:schemeClr val="dk1"/>
                </a:solidFill>
              </a:rPr>
              <a:t>Two-Stage AI Pipeline:</a:t>
            </a:r>
            <a:r>
              <a:rPr lang="en-GB" sz="3050">
                <a:solidFill>
                  <a:schemeClr val="dk1"/>
                </a:solidFill>
              </a:rPr>
              <a:t> 8B LogLLM (Classifier) + 3B Llama (Explainer).</a:t>
            </a:r>
            <a:endParaRPr sz="3050">
              <a:solidFill>
                <a:schemeClr val="dk1"/>
              </a:solidFill>
            </a:endParaRPr>
          </a:p>
          <a:p>
            <a:pPr indent="-29154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3050">
                <a:solidFill>
                  <a:schemeClr val="dk1"/>
                </a:solidFill>
              </a:rPr>
              <a:t>Full-Stack App:</a:t>
            </a:r>
            <a:r>
              <a:rPr lang="en-GB" sz="3050">
                <a:solidFill>
                  <a:schemeClr val="dk1"/>
                </a:solidFill>
              </a:rPr>
              <a:t> FastAPI backend linked to an interactive React dashboard.</a:t>
            </a:r>
            <a:endParaRPr sz="3050">
              <a:solidFill>
                <a:schemeClr val="dk1"/>
              </a:solidFill>
            </a:endParaRPr>
          </a:p>
          <a:p>
            <a:pPr indent="-29154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3050">
                <a:solidFill>
                  <a:schemeClr val="dk1"/>
                </a:solidFill>
              </a:rPr>
              <a:t>Hardware-Optimized:</a:t>
            </a:r>
            <a:r>
              <a:rPr lang="en-GB" sz="3050">
                <a:solidFill>
                  <a:schemeClr val="dk1"/>
                </a:solidFill>
              </a:rPr>
              <a:t> Dual T4 GPUs with 4-bit quantization and dynamic VRAM management.</a:t>
            </a:r>
            <a:endParaRPr sz="30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2257550"/>
            <a:ext cx="8940600" cy="11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Background Information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The Log Explosion:</a:t>
            </a:r>
            <a:r>
              <a:rPr lang="en-GB" sz="1000">
                <a:solidFill>
                  <a:schemeClr val="dk1"/>
                </a:solidFill>
              </a:rPr>
              <a:t> Systems generate millions of complex, unstructured logs daily.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The Silent Failure Trap:</a:t>
            </a:r>
            <a:r>
              <a:rPr lang="en-GB" sz="1000">
                <a:solidFill>
                  <a:schemeClr val="dk1"/>
                </a:solidFill>
              </a:rPr>
              <a:t> Critical errors often lack obvious "error" keywords, hiding as broken execution paths.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Legacy Limitations:</a:t>
            </a:r>
            <a:r>
              <a:rPr lang="en-GB" sz="1000">
                <a:solidFill>
                  <a:schemeClr val="dk1"/>
                </a:solidFill>
              </a:rPr>
              <a:t> Traditional rule-based regex tools require constant manual updates and miss structural anomalies.</a:t>
            </a:r>
            <a:endParaRPr sz="5113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276650" y="3577725"/>
            <a:ext cx="89406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Why the Topic is Important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Proactive Stability:</a:t>
            </a:r>
            <a:r>
              <a:rPr lang="en-GB" sz="1000">
                <a:solidFill>
                  <a:schemeClr val="dk1"/>
                </a:solidFill>
              </a:rPr>
              <a:t> Catches hidden architectural anomalies before full system failures.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Faster Resolution (MTTR):</a:t>
            </a:r>
            <a:r>
              <a:rPr lang="en-GB" sz="1000">
                <a:solidFill>
                  <a:schemeClr val="dk1"/>
                </a:solidFill>
              </a:rPr>
              <a:t> Turns raw, confusing logs into instant, readable incident reports.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Superior Context:</a:t>
            </a:r>
            <a:r>
              <a:rPr lang="en-GB" sz="1000">
                <a:solidFill>
                  <a:schemeClr val="dk1"/>
                </a:solidFill>
              </a:rPr>
              <a:t> AI maps intricate system dependencies faster and more accurately than manual human review.</a:t>
            </a:r>
            <a:endParaRPr sz="511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30825"/>
            <a:ext cx="5886900" cy="14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Aim of the Project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Automated Intelligence:</a:t>
            </a:r>
            <a:r>
              <a:rPr lang="en-GB" sz="1000">
                <a:solidFill>
                  <a:schemeClr val="dk1"/>
                </a:solidFill>
              </a:rPr>
              <a:t> An end-to-end platform that instantly detects and explains hidden system anomalies without manual intervention.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Proactive Monitoring:</a:t>
            </a:r>
            <a:r>
              <a:rPr lang="en-GB" sz="1000">
                <a:solidFill>
                  <a:schemeClr val="dk1"/>
                </a:solidFill>
              </a:rPr>
              <a:t> Shifting from reactive "post-mortem" debugging to real-time pipeline observation.</a:t>
            </a:r>
            <a:endParaRPr b="1" sz="315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2751950"/>
            <a:ext cx="8356200" cy="15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Key Goals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Classification Pipeline:</a:t>
            </a:r>
            <a:r>
              <a:rPr lang="en-GB" sz="1000">
                <a:solidFill>
                  <a:schemeClr val="dk1"/>
                </a:solidFill>
              </a:rPr>
              <a:t> Build a dual-GPU backend to parse manual log sequences and isolate structural anomalies using the 8B LogLLM.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Explainer Fine-Tuning:</a:t>
            </a:r>
            <a:r>
              <a:rPr lang="en-GB" sz="1000">
                <a:solidFill>
                  <a:schemeClr val="dk1"/>
                </a:solidFill>
              </a:rPr>
              <a:t> Optimize a 3B Llama model (via PEFT/LoRA) to translate machine event IDs and latencies into clear human-readable text.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Seamless Frontend:</a:t>
            </a:r>
            <a:r>
              <a:rPr lang="en-GB" sz="1000">
                <a:solidFill>
                  <a:schemeClr val="dk1"/>
                </a:solidFill>
              </a:rPr>
              <a:t> Develop a React interface to reliably send multi-line logs through an Ngrok proxy tunnel without triggering CORS or gateway timeouts.</a:t>
            </a:r>
            <a:endParaRPr b="1" sz="5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sz="2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0997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Problem Are We Solving?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Keyword Blindspots:</a:t>
            </a:r>
            <a:r>
              <a:rPr lang="en-GB" sz="1000">
                <a:solidFill>
                  <a:schemeClr val="dk1"/>
                </a:solidFill>
              </a:rPr>
              <a:t> Traditional tools rely on explicit "ERROR" tags, completely missing silent failures like broken sequences or dropped connections.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Contextless Alerts:</a:t>
            </a:r>
            <a:r>
              <a:rPr lang="en-GB" sz="1000">
                <a:solidFill>
                  <a:schemeClr val="dk1"/>
                </a:solidFill>
              </a:rPr>
              <a:t> Standard monitors flag isolated lines, forcing developers to manually reconstruct complex events across server nodes.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Troubleshooting Bottlenecks:</a:t>
            </a:r>
            <a:r>
              <a:rPr lang="en-GB" sz="1000">
                <a:solidFill>
                  <a:schemeClr val="dk1"/>
                </a:solidFill>
              </a:rPr>
              <a:t> Manually sifting through millions of unstructured log lines during a crash causes massive, costly delays.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14450" y="2941400"/>
            <a:ext cx="7894200" cy="1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Why Is It Important?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Minimizing Downtime:</a:t>
            </a:r>
            <a:r>
              <a:rPr lang="en-GB" sz="1000">
                <a:solidFill>
                  <a:schemeClr val="dk1"/>
                </a:solidFill>
              </a:rPr>
              <a:t> System outages cause severe financial losses; this AI pipeline shifts detection time from hours down to milliseconds.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Navigating Complexity:</a:t>
            </a:r>
            <a:r>
              <a:rPr lang="en-GB" sz="1000">
                <a:solidFill>
                  <a:schemeClr val="dk1"/>
                </a:solidFill>
              </a:rPr>
              <a:t> Modern log environments are too intricate for manual review. AI provides the rapid contextual awareness needed for highly accurate anomaly flagging.</a:t>
            </a:r>
            <a:endParaRPr b="1" sz="130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243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/ Approach</a:t>
            </a:r>
            <a:endParaRPr sz="2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73575" y="734800"/>
            <a:ext cx="66672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Data Collection &amp; Representation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Dual-Dataset Training:</a:t>
            </a:r>
            <a:r>
              <a:rPr lang="en-GB" sz="1000">
                <a:solidFill>
                  <a:schemeClr val="dk1"/>
                </a:solidFill>
              </a:rPr>
              <a:t> Trained the 8B classifier on standard HDFS logs, and the 3B explainer on a custom synthetic dataset.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Log Preprocessing:</a:t>
            </a:r>
            <a:r>
              <a:rPr lang="en-GB" sz="1000">
                <a:solidFill>
                  <a:schemeClr val="dk1"/>
                </a:solidFill>
              </a:rPr>
              <a:t> Used wildcard tokens (</a:t>
            </a:r>
            <a:r>
              <a:rPr lang="en-GB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&lt;*&gt;</a:t>
            </a:r>
            <a:r>
              <a:rPr lang="en-GB" sz="1000">
                <a:solidFill>
                  <a:schemeClr val="dk1"/>
                </a:solidFill>
              </a:rPr>
              <a:t>) to parse raw strings into semantic templates, converting them into structured, chronological Event ID paths.</a:t>
            </a:r>
            <a:endParaRPr sz="2689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116850" y="2242600"/>
            <a:ext cx="6785100" cy="13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Operational Workflow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Ingestion &amp; Tokenization:</a:t>
            </a:r>
            <a:r>
              <a:rPr lang="en-GB" sz="1000">
                <a:solidFill>
                  <a:schemeClr val="dk1"/>
                </a:solidFill>
              </a:rPr>
              <a:t> React inputs are split by newlines and mapped by a PyTorch collator to manage dynamic sequence boundaries.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Classification &amp; Diagnostics:</a:t>
            </a:r>
            <a:r>
              <a:rPr lang="en-GB" sz="1000">
                <a:solidFill>
                  <a:schemeClr val="dk1"/>
                </a:solidFill>
              </a:rPr>
              <a:t> LogLLM detects structural anomalies, instantly routing flagged failures to the Llama model for root-cause reporting.</a:t>
            </a:r>
            <a:endParaRPr sz="5100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116850" y="3568500"/>
            <a:ext cx="70416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Technology Stack &amp; Tools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Framework:</a:t>
            </a:r>
            <a:r>
              <a:rPr lang="en-GB" sz="1000">
                <a:solidFill>
                  <a:schemeClr val="dk1"/>
                </a:solidFill>
              </a:rPr>
              <a:t> React,Python, FastAPI (Asynchronous REST API routing).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Core Libraries &amp; Optimization:</a:t>
            </a:r>
            <a:r>
              <a:rPr lang="en-GB" sz="1000">
                <a:solidFill>
                  <a:schemeClr val="dk1"/>
                </a:solidFill>
              </a:rPr>
              <a:t> </a:t>
            </a:r>
            <a:r>
              <a:rPr b="1" lang="en-GB" sz="1000">
                <a:solidFill>
                  <a:schemeClr val="dk1"/>
                </a:solidFill>
              </a:rPr>
              <a:t>Unsloth</a:t>
            </a:r>
            <a:r>
              <a:rPr lang="en-GB" sz="1000">
                <a:solidFill>
                  <a:schemeClr val="dk1"/>
                </a:solidFill>
              </a:rPr>
              <a:t> , PyTorch, Hugging Face Transformers.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</a:t>
            </a:r>
            <a:r>
              <a:rPr b="1" lang="en-GB"/>
              <a:t>rchitecture</a:t>
            </a:r>
            <a:endParaRPr b="1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1141525"/>
            <a:ext cx="640080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68400" y="120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/ Tools Used</a:t>
            </a:r>
            <a:endParaRPr b="1"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268400" y="640150"/>
            <a:ext cx="8520600" cy="12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50"/>
              <a:t>Hardware Infrastructure</a:t>
            </a:r>
            <a:endParaRPr sz="18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Local Training &amp; Testing:</a:t>
            </a:r>
            <a:r>
              <a:rPr lang="en-GB" sz="1400">
                <a:solidFill>
                  <a:schemeClr val="dk1"/>
                </a:solidFill>
              </a:rPr>
              <a:t> NVIDIA RTX 3050 GPU (utilized for fine-tuning the 3B explainer model and executing initial local pipeline tests).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Cloud Production Inference:</a:t>
            </a:r>
            <a:r>
              <a:rPr lang="en-GB" sz="1400">
                <a:solidFill>
                  <a:schemeClr val="dk1"/>
                </a:solidFill>
              </a:rPr>
              <a:t> Dual NVIDIA T4 GPUs (hosted on Kaggle to provide split-VRAM hosting for both deep learning models simultaneously).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268400" y="1919350"/>
            <a:ext cx="8520600" cy="14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/>
              <a:t>Software &amp; Frameworks</a:t>
            </a:r>
            <a:endParaRPr sz="20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Development &amp; Run Environments:</a:t>
            </a:r>
            <a:r>
              <a:rPr lang="en-GB" sz="1400">
                <a:solidFill>
                  <a:schemeClr val="dk1"/>
                </a:solidFill>
              </a:rPr>
              <a:t> Kaggle Notebooks (cloud engine) and Ngrok (secure proxy tunnel).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AI &amp; Optimization Libraries:</a:t>
            </a:r>
            <a:r>
              <a:rPr lang="en-GB" sz="1400">
                <a:solidFill>
                  <a:schemeClr val="dk1"/>
                </a:solidFill>
              </a:rPr>
              <a:t> Unsloth (accelerated training framework), PyTorch, Hugging Face Transformers, and PEFT.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</a:rPr>
              <a:t>Full-Stack Web Web Architecture:</a:t>
            </a:r>
            <a:r>
              <a:rPr lang="en-GB" sz="1400">
                <a:solidFill>
                  <a:schemeClr val="dk1"/>
                </a:solidFill>
              </a:rPr>
              <a:t> FastAPI (asynchronous Python backend) and React (interactive client interface).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218475" y="3521250"/>
            <a:ext cx="7614000" cy="10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Data Resources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HDFS Log Dataset:</a:t>
            </a:r>
            <a:r>
              <a:rPr lang="en-GB" sz="1000">
                <a:solidFill>
                  <a:schemeClr val="dk1"/>
                </a:solidFill>
              </a:rPr>
              <a:t> Baseline data used to map and establish distributed system behavior.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Custom Synthetic Dataset:</a:t>
            </a:r>
            <a:r>
              <a:rPr lang="en-GB" sz="1000">
                <a:solidFill>
                  <a:schemeClr val="dk1"/>
                </a:solidFill>
              </a:rPr>
              <a:t> Specialized text mappings designed to train the explainer model's domain-expert capabilities.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105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28600" rtl="0" algn="ctr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500425" y="748375"/>
            <a:ext cx="1890000" cy="4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lang="en-GB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Snippets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/>
          </a:p>
        </p:txBody>
      </p:sp>
      <p:pic>
        <p:nvPicPr>
          <p:cNvPr id="110" name="Google Shape;110;p20" title="Screenshot From 2026-06-14 22-20-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398" y="2112150"/>
            <a:ext cx="4225601" cy="251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 title="Screenshot From 2026-06-14 22-19-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225" y="2145700"/>
            <a:ext cx="3535800" cy="244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904250" y="1282488"/>
            <a:ext cx="2466300" cy="4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lang="en-GB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Frontend(React)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6122200" y="1282500"/>
            <a:ext cx="2466300" cy="4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lang="en-GB" sz="1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Backend(Python)</a:t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55650" y="86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/ Findings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794950" y="1306575"/>
            <a:ext cx="16596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 / charts</a:t>
            </a:r>
            <a:endParaRPr b="1" sz="1730"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619100" y="2571750"/>
            <a:ext cx="2934000" cy="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Screenshot/</a:t>
            </a: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cases</a:t>
            </a:r>
            <a:endParaRPr b="1" sz="17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7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21" title="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00" y="3068300"/>
            <a:ext cx="3652500" cy="181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9850" y="658700"/>
            <a:ext cx="3571075" cy="18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2667000" y="1341375"/>
            <a:ext cx="745800" cy="31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6190" y="3102188"/>
            <a:ext cx="3777509" cy="17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25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/ Analysis</a:t>
            </a:r>
            <a:endParaRPr b="1" sz="2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261175" y="907125"/>
            <a:ext cx="7021800" cy="19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Explanation of Results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High-Quality Output:</a:t>
            </a:r>
            <a:r>
              <a:rPr lang="en-GB" sz="1000">
                <a:solidFill>
                  <a:schemeClr val="dk1"/>
                </a:solidFill>
              </a:rPr>
              <a:t> Despite its compact 3B size, the fine-tuned explainer delivers precise, context-aware incident diagnostics.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Flawless Pipeline Routing:</a:t>
            </a:r>
            <a:r>
              <a:rPr lang="en-GB" sz="1000">
                <a:solidFill>
                  <a:schemeClr val="dk1"/>
                </a:solidFill>
              </a:rPr>
              <a:t> The automated logic successfully processes user-submitted log sequences, filtering normal behavior and pushing anomalies to the secondary model with zero dropped data.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Reliable UI Rendering:</a:t>
            </a:r>
            <a:r>
              <a:rPr lang="en-GB" sz="1000">
                <a:solidFill>
                  <a:schemeClr val="dk1"/>
                </a:solidFill>
              </a:rPr>
              <a:t> The end-to-end data loop functions perfectly, instantly displaying dynamic root-cause explanations on the frontend dashboard.</a:t>
            </a:r>
            <a:endParaRPr sz="1200"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2971050"/>
            <a:ext cx="6729600" cy="18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Do These Results Mean?</a:t>
            </a:r>
            <a:endParaRPr b="1" sz="13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Robust Pattern Discrimination:</a:t>
            </a:r>
            <a:r>
              <a:rPr lang="en-GB" sz="1000">
                <a:solidFill>
                  <a:schemeClr val="dk1"/>
                </a:solidFill>
              </a:rPr>
              <a:t> The 8B classifier accurately distinguishes between normal operations and system anomalies based entirely on structural footprints.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Effective Fine-Tuning:</a:t>
            </a:r>
            <a:r>
              <a:rPr lang="en-GB" sz="1000">
                <a:solidFill>
                  <a:schemeClr val="dk1"/>
                </a:solidFill>
              </a:rPr>
              <a:t> Targeted synthetic training allows a compact 3B model to generate enterprise-grade technical explanations without massive compute costs.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GB" sz="1000">
                <a:solidFill>
                  <a:schemeClr val="dk1"/>
                </a:solidFill>
              </a:rPr>
              <a:t>Validated Architecture:</a:t>
            </a:r>
            <a:r>
              <a:rPr lang="en-GB" sz="1000">
                <a:solidFill>
                  <a:schemeClr val="dk1"/>
                </a:solidFill>
              </a:rPr>
              <a:t> The tiered AI framework (Gatekeeper + Specialist) is highly viable, laying a proven foundation for advanced infrastructure diagnostics.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268400" y="1123625"/>
            <a:ext cx="8520600" cy="3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Summary of Project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Built </a:t>
            </a:r>
            <a:r>
              <a:rPr b="1" lang="en-GB" sz="1100">
                <a:solidFill>
                  <a:schemeClr val="dk1"/>
                </a:solidFill>
              </a:rPr>
              <a:t>LogSense</a:t>
            </a:r>
            <a:r>
              <a:rPr lang="en-GB" sz="1100">
                <a:solidFill>
                  <a:schemeClr val="dk1"/>
                </a:solidFill>
              </a:rPr>
              <a:t>, an end-to-end, two-model deep-learning pipeline deployed entirely on free-tier infrastructure via FastAPI and Ngrok.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What You Learned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Specialization Wins:</a:t>
            </a:r>
            <a:r>
              <a:rPr lang="en-GB" sz="1100">
                <a:solidFill>
                  <a:schemeClr val="dk1"/>
                </a:solidFill>
              </a:rPr>
              <a:t> Separating anomaly detection from root-cause explanation into two independent models is far more effective than forcing a single model to do both.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Accessible Compute:</a:t>
            </a:r>
            <a:r>
              <a:rPr lang="en-GB" sz="1100">
                <a:solidFill>
                  <a:schemeClr val="dk1"/>
                </a:solidFill>
              </a:rPr>
              <a:t> Fine-tuning a 3-billion-parameter model in just 25 minutes is highly viable using LoRA and Unsloth on free hardware.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Final Outcome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Achieved </a:t>
            </a:r>
            <a:r>
              <a:rPr b="1" lang="en-GB" sz="1100">
                <a:solidFill>
                  <a:schemeClr val="dk1"/>
                </a:solidFill>
              </a:rPr>
              <a:t>99.0% detection accuracy</a:t>
            </a:r>
            <a:r>
              <a:rPr lang="en-GB" sz="1100">
                <a:solidFill>
                  <a:schemeClr val="dk1"/>
                </a:solidFill>
              </a:rPr>
              <a:t> (0.94 F1-score) on the HDFS test set.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Successfully generated fluent, precise root-cause diagnostics in an average of </a:t>
            </a:r>
            <a:r>
              <a:rPr b="1" lang="en-GB" sz="1100">
                <a:solidFill>
                  <a:schemeClr val="dk1"/>
                </a:solidFill>
              </a:rPr>
              <a:t>8.5 seconds</a:t>
            </a:r>
            <a:r>
              <a:rPr lang="en-GB" sz="1100">
                <a:solidFill>
                  <a:schemeClr val="dk1"/>
                </a:solidFill>
              </a:rPr>
              <a:t> per anomalous sequence.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4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27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</a:t>
            </a:r>
            <a:r>
              <a:rPr b="1" lang="en-GB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7230"/>
              <a:buFont typeface="Arial"/>
              <a:buNone/>
            </a:pPr>
            <a:r>
              <a:rPr b="1" lang="en-GB" sz="1424">
                <a:solidFill>
                  <a:schemeClr val="dk1"/>
                </a:solidFill>
              </a:rPr>
              <a:t>Future Scope</a:t>
            </a:r>
            <a:endParaRPr b="1" sz="1424">
              <a:solidFill>
                <a:schemeClr val="dk1"/>
              </a:solidFill>
            </a:endParaRPr>
          </a:p>
          <a:p>
            <a:pPr indent="-29380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208">
                <a:solidFill>
                  <a:schemeClr val="dk1"/>
                </a:solidFill>
              </a:rPr>
              <a:t>Cross-Domain Expansion:</a:t>
            </a:r>
            <a:r>
              <a:rPr lang="en-GB" sz="1208">
                <a:solidFill>
                  <a:schemeClr val="dk1"/>
                </a:solidFill>
              </a:rPr>
              <a:t> Extend support beyond HDFS to diverse infrastructure logs (Spark, Hadoop, BGL) using a shared encoder.</a:t>
            </a:r>
            <a:endParaRPr sz="1208">
              <a:solidFill>
                <a:schemeClr val="dk1"/>
              </a:solidFill>
            </a:endParaRPr>
          </a:p>
          <a:p>
            <a:pPr indent="-29380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208">
                <a:solidFill>
                  <a:schemeClr val="dk1"/>
                </a:solidFill>
              </a:rPr>
              <a:t>True Real-Time Streaming:</a:t>
            </a:r>
            <a:r>
              <a:rPr lang="en-GB" sz="1208">
                <a:solidFill>
                  <a:schemeClr val="dk1"/>
                </a:solidFill>
              </a:rPr>
              <a:t> Implement WebSockets and batch endpoints for continuous, high-throughput log ingestion.</a:t>
            </a:r>
            <a:endParaRPr sz="1208">
              <a:solidFill>
                <a:schemeClr val="dk1"/>
              </a:solidFill>
            </a:endParaRPr>
          </a:p>
          <a:p>
            <a:pPr indent="-29380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208">
                <a:solidFill>
                  <a:schemeClr val="dk1"/>
                </a:solidFill>
              </a:rPr>
              <a:t>Global Accessibility:</a:t>
            </a:r>
            <a:r>
              <a:rPr lang="en-GB" sz="1208">
                <a:solidFill>
                  <a:schemeClr val="dk1"/>
                </a:solidFill>
              </a:rPr>
              <a:t> Introduce multi-language support for multinational operations teams.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7230"/>
              <a:buFont typeface="Arial"/>
              <a:buNone/>
            </a:pPr>
            <a:r>
              <a:rPr b="1" lang="en-GB" sz="1424">
                <a:solidFill>
                  <a:schemeClr val="dk1"/>
                </a:solidFill>
              </a:rPr>
              <a:t>Improvements Possible</a:t>
            </a:r>
            <a:endParaRPr b="1" sz="1424">
              <a:solidFill>
                <a:schemeClr val="dk1"/>
              </a:solidFill>
            </a:endParaRPr>
          </a:p>
          <a:p>
            <a:pPr indent="-29380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208">
                <a:solidFill>
                  <a:schemeClr val="dk1"/>
                </a:solidFill>
              </a:rPr>
              <a:t>Production Hosting &amp; Security:</a:t>
            </a:r>
            <a:r>
              <a:rPr lang="en-GB" sz="1208">
                <a:solidFill>
                  <a:schemeClr val="dk1"/>
                </a:solidFill>
              </a:rPr>
              <a:t> Migrate off Kaggle to dedicated 24/7 GPU servers (e.g., vLLM) and implement API key authentication.</a:t>
            </a:r>
            <a:endParaRPr sz="1208">
              <a:solidFill>
                <a:schemeClr val="dk1"/>
              </a:solidFill>
            </a:endParaRPr>
          </a:p>
          <a:p>
            <a:pPr indent="-29380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208">
                <a:solidFill>
                  <a:schemeClr val="dk1"/>
                </a:solidFill>
              </a:rPr>
              <a:t>Enhanced Training Data:</a:t>
            </a:r>
            <a:r>
              <a:rPr lang="en-GB" sz="1208">
                <a:solidFill>
                  <a:schemeClr val="dk1"/>
                </a:solidFill>
              </a:rPr>
              <a:t> Replace synthetic datasets with thousands of real-world, SRE-labeled incident post-mortems to improve diagnostic quality.</a:t>
            </a:r>
            <a:endParaRPr sz="1208">
              <a:solidFill>
                <a:schemeClr val="dk1"/>
              </a:solidFill>
            </a:endParaRPr>
          </a:p>
          <a:p>
            <a:pPr indent="-29380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208">
                <a:solidFill>
                  <a:schemeClr val="dk1"/>
                </a:solidFill>
              </a:rPr>
              <a:t>Automated Evaluation:</a:t>
            </a:r>
            <a:r>
              <a:rPr lang="en-GB" sz="1208">
                <a:solidFill>
                  <a:schemeClr val="dk1"/>
                </a:solidFill>
              </a:rPr>
              <a:t> Introduce strict quantitative metrics (BLEU, ROUGE, LLM-as-judge) to rigorously test explanation accuracy.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7230"/>
              <a:buFont typeface="Arial"/>
              <a:buNone/>
            </a:pPr>
            <a:r>
              <a:rPr b="1" lang="en-GB" sz="1424">
                <a:solidFill>
                  <a:schemeClr val="dk1"/>
                </a:solidFill>
              </a:rPr>
              <a:t>Ideas for Future Work</a:t>
            </a:r>
            <a:endParaRPr b="1" sz="1424">
              <a:solidFill>
                <a:schemeClr val="dk1"/>
              </a:solidFill>
            </a:endParaRPr>
          </a:p>
          <a:p>
            <a:pPr indent="-3006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335">
                <a:solidFill>
                  <a:schemeClr val="dk1"/>
                </a:solidFill>
              </a:rPr>
              <a:t>Active Learning Loop:</a:t>
            </a:r>
            <a:r>
              <a:rPr lang="en-GB" sz="1335">
                <a:solidFill>
                  <a:schemeClr val="dk1"/>
                </a:solidFill>
              </a:rPr>
              <a:t> Add a feedback system (thumbs up/down) to the React UI, allowing the model to continuously learn from human engineers.</a:t>
            </a:r>
            <a:endParaRPr sz="1335">
              <a:solidFill>
                <a:schemeClr val="dk1"/>
              </a:solidFill>
            </a:endParaRPr>
          </a:p>
          <a:p>
            <a:pPr indent="-3006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335">
                <a:solidFill>
                  <a:schemeClr val="dk1"/>
                </a:solidFill>
              </a:rPr>
              <a:t>Persistent Audit Trail:</a:t>
            </a:r>
            <a:r>
              <a:rPr lang="en-GB" sz="1335">
                <a:solidFill>
                  <a:schemeClr val="dk1"/>
                </a:solidFill>
              </a:rPr>
              <a:t> Build a database layer to log historical predictions, enabling long-term analytics and drift detection.</a:t>
            </a:r>
            <a:endParaRPr sz="203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Articles &amp; Academic Papers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LogLLM:</a:t>
            </a:r>
            <a:r>
              <a:rPr lang="en-GB" sz="1100">
                <a:solidFill>
                  <a:schemeClr val="dk1"/>
                </a:solidFill>
              </a:rPr>
              <a:t> Chen, W., et al. (2024). </a:t>
            </a:r>
            <a:r>
              <a:rPr i="1" lang="en-GB" sz="1100">
                <a:solidFill>
                  <a:schemeClr val="dk1"/>
                </a:solidFill>
              </a:rPr>
              <a:t>A Framework for Log-Based Anomaly Detection Using Large Language Models</a:t>
            </a:r>
            <a:r>
              <a:rPr lang="en-GB" sz="1100">
                <a:solidFill>
                  <a:schemeClr val="dk1"/>
                </a:solidFill>
              </a:rPr>
              <a:t>. arXiv preprint.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DeepLog:</a:t>
            </a:r>
            <a:r>
              <a:rPr lang="en-GB" sz="1100">
                <a:solidFill>
                  <a:schemeClr val="dk1"/>
                </a:solidFill>
              </a:rPr>
              <a:t> Du, M., et al. (2017). </a:t>
            </a:r>
            <a:r>
              <a:rPr i="1" lang="en-GB" sz="1100">
                <a:solidFill>
                  <a:schemeClr val="dk1"/>
                </a:solidFill>
              </a:rPr>
              <a:t>Anomaly Detection and Diagnosis from System Logs through Deep Learning</a:t>
            </a:r>
            <a:r>
              <a:rPr lang="en-GB" sz="1100">
                <a:solidFill>
                  <a:schemeClr val="dk1"/>
                </a:solidFill>
              </a:rPr>
              <a:t>. ACM SIGSAC (CCS).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LogBERT:</a:t>
            </a:r>
            <a:r>
              <a:rPr lang="en-GB" sz="1100">
                <a:solidFill>
                  <a:schemeClr val="dk1"/>
                </a:solidFill>
              </a:rPr>
              <a:t> Guo, H., et al. (2021). </a:t>
            </a:r>
            <a:r>
              <a:rPr i="1" lang="en-GB" sz="1100">
                <a:solidFill>
                  <a:schemeClr val="dk1"/>
                </a:solidFill>
              </a:rPr>
              <a:t>Log Anomaly Detection via BERT</a:t>
            </a:r>
            <a:r>
              <a:rPr lang="en-GB" sz="1100">
                <a:solidFill>
                  <a:schemeClr val="dk1"/>
                </a:solidFill>
              </a:rPr>
              <a:t>. IJCNN.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Drain:</a:t>
            </a:r>
            <a:r>
              <a:rPr lang="en-GB" sz="1100">
                <a:solidFill>
                  <a:schemeClr val="dk1"/>
                </a:solidFill>
              </a:rPr>
              <a:t> He, P., et al. (2017). </a:t>
            </a:r>
            <a:r>
              <a:rPr i="1" lang="en-GB" sz="1100">
                <a:solidFill>
                  <a:schemeClr val="dk1"/>
                </a:solidFill>
              </a:rPr>
              <a:t>An Online Log Parsing Approach with Fixed Depth Tree</a:t>
            </a:r>
            <a:r>
              <a:rPr lang="en-GB" sz="1100">
                <a:solidFill>
                  <a:schemeClr val="dk1"/>
                </a:solidFill>
              </a:rPr>
              <a:t>. IEEE ICWS.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LoRA:</a:t>
            </a:r>
            <a:r>
              <a:rPr lang="en-GB" sz="1100">
                <a:solidFill>
                  <a:schemeClr val="dk1"/>
                </a:solidFill>
              </a:rPr>
              <a:t> Hu, E. J., et al. (2022). </a:t>
            </a:r>
            <a:r>
              <a:rPr i="1" lang="en-GB" sz="1100">
                <a:solidFill>
                  <a:schemeClr val="dk1"/>
                </a:solidFill>
              </a:rPr>
              <a:t>Low-Rank Adaptation of Large Language Models</a:t>
            </a:r>
            <a:r>
              <a:rPr lang="en-GB" sz="1100">
                <a:solidFill>
                  <a:schemeClr val="dk1"/>
                </a:solidFill>
              </a:rPr>
              <a:t>. ICLR.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Llama 2:</a:t>
            </a:r>
            <a:r>
              <a:rPr lang="en-GB" sz="1100">
                <a:solidFill>
                  <a:schemeClr val="dk1"/>
                </a:solidFill>
              </a:rPr>
              <a:t> Touvron, H., et al. (2023). </a:t>
            </a:r>
            <a:r>
              <a:rPr i="1" lang="en-GB" sz="1100">
                <a:solidFill>
                  <a:schemeClr val="dk1"/>
                </a:solidFill>
              </a:rPr>
              <a:t>Open Foundation and Fine-Tuned Chat Models</a:t>
            </a:r>
            <a:r>
              <a:rPr lang="en-GB" sz="1100">
                <a:solidFill>
                  <a:schemeClr val="dk1"/>
                </a:solidFill>
              </a:rPr>
              <a:t>. arXiv preprint.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Loghub:</a:t>
            </a:r>
            <a:r>
              <a:rPr lang="en-GB" sz="1100">
                <a:solidFill>
                  <a:schemeClr val="dk1"/>
                </a:solidFill>
              </a:rPr>
              <a:t> He, S., et al. (2020). </a:t>
            </a:r>
            <a:r>
              <a:rPr i="1" lang="en-GB" sz="1100">
                <a:solidFill>
                  <a:schemeClr val="dk1"/>
                </a:solidFill>
              </a:rPr>
              <a:t>A Large Collection of System Log Datasets towards Automated Log Analytics</a:t>
            </a:r>
            <a:r>
              <a:rPr lang="en-GB" sz="1100">
                <a:solidFill>
                  <a:schemeClr val="dk1"/>
                </a:solidFill>
              </a:rPr>
              <a:t>. arXiv preprint.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QLoRA:</a:t>
            </a:r>
            <a:r>
              <a:rPr lang="en-GB" sz="1100">
                <a:solidFill>
                  <a:schemeClr val="dk1"/>
                </a:solidFill>
              </a:rPr>
              <a:t> Dettmers, T., et al. (2023). </a:t>
            </a:r>
            <a:r>
              <a:rPr i="1" lang="en-GB" sz="1100">
                <a:solidFill>
                  <a:schemeClr val="dk1"/>
                </a:solidFill>
              </a:rPr>
              <a:t>Efficient Finetuning of Quantized LLMs</a:t>
            </a:r>
            <a:r>
              <a:rPr lang="en-GB" sz="1100">
                <a:solidFill>
                  <a:schemeClr val="dk1"/>
                </a:solidFill>
              </a:rPr>
              <a:t>. NeurIPS.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Transformers:</a:t>
            </a:r>
            <a:r>
              <a:rPr lang="en-GB" sz="1100">
                <a:solidFill>
                  <a:schemeClr val="dk1"/>
                </a:solidFill>
              </a:rPr>
              <a:t> Wolf, T., et al. (2020). </a:t>
            </a:r>
            <a:r>
              <a:rPr i="1" lang="en-GB" sz="1100">
                <a:solidFill>
                  <a:schemeClr val="dk1"/>
                </a:solidFill>
              </a:rPr>
              <a:t>State-of-the-Art Natural Language Processing</a:t>
            </a:r>
            <a:r>
              <a:rPr lang="en-GB" sz="1100">
                <a:solidFill>
                  <a:schemeClr val="dk1"/>
                </a:solidFill>
              </a:rPr>
              <a:t>. EMNLP.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LogRobust:</a:t>
            </a:r>
            <a:r>
              <a:rPr lang="en-GB" sz="1100">
                <a:solidFill>
                  <a:schemeClr val="dk1"/>
                </a:solidFill>
              </a:rPr>
              <a:t> Zhang, X., et al. (2019). </a:t>
            </a:r>
            <a:r>
              <a:rPr i="1" lang="en-GB" sz="1100">
                <a:solidFill>
                  <a:schemeClr val="dk1"/>
                </a:solidFill>
              </a:rPr>
              <a:t>Robust Log-Based Anomaly Detection on Unstable Log Data</a:t>
            </a:r>
            <a:r>
              <a:rPr lang="en-GB" sz="1100">
                <a:solidFill>
                  <a:schemeClr val="dk1"/>
                </a:solidFill>
              </a:rPr>
              <a:t>. ACM ESEC/FSE.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Websites &amp; Software Repositories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Meta AI:</a:t>
            </a:r>
            <a:r>
              <a:rPr lang="en-GB" sz="1100">
                <a:solidFill>
                  <a:schemeClr val="dk1"/>
                </a:solidFill>
              </a:rPr>
              <a:t> (2024). </a:t>
            </a:r>
            <a:r>
              <a:rPr i="1" lang="en-GB" sz="1100">
                <a:solidFill>
                  <a:schemeClr val="dk1"/>
                </a:solidFill>
              </a:rPr>
              <a:t>The Llama 3 Herd of Models — Llama 3.2 release notes and model card</a:t>
            </a:r>
            <a:r>
              <a:rPr lang="en-GB" sz="1100">
                <a:solidFill>
                  <a:schemeClr val="dk1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ai.meta.com/blog/llama-3-2/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Unsloth Team:</a:t>
            </a:r>
            <a:r>
              <a:rPr lang="en-GB" sz="1100">
                <a:solidFill>
                  <a:schemeClr val="dk1"/>
                </a:solidFill>
              </a:rPr>
              <a:t> (2024). </a:t>
            </a:r>
            <a:r>
              <a:rPr i="1" lang="en-GB" sz="1100">
                <a:solidFill>
                  <a:schemeClr val="dk1"/>
                </a:solidFill>
              </a:rPr>
              <a:t>Unsloth: 2× Faster Llama Fine-Tuning with 70% Less Memory</a:t>
            </a:r>
            <a:r>
              <a:rPr lang="en-GB" sz="1100">
                <a:solidFill>
                  <a:schemeClr val="dk1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6"/>
              </a:rPr>
              <a:t>github.com/unslothai/unsloth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2232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3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